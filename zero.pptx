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57" r:id="rId4"/>
    <p:sldId id="258" r:id="rId5"/>
    <p:sldId id="259" r:id="rId6"/>
    <p:sldId id="26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3" r:id="rId17"/>
    <p:sldId id="281" r:id="rId18"/>
    <p:sldId id="282" r:id="rId19"/>
    <p:sldId id="264" r:id="rId20"/>
    <p:sldId id="271" r:id="rId21"/>
    <p:sldId id="269" r:id="rId22"/>
    <p:sldId id="270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36" autoAdjust="0"/>
    <p:restoredTop sz="94694"/>
  </p:normalViewPr>
  <p:slideViewPr>
    <p:cSldViewPr snapToGrid="0" showGuides="1">
      <p:cViewPr varScale="1">
        <p:scale>
          <a:sx n="78" d="100"/>
          <a:sy n="78" d="100"/>
        </p:scale>
        <p:origin x="169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e7f44d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1" name="Google Shape;101;g13e7f44d30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3e7f44d30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8976C50-E51D-EF9F-8733-9216A223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972D7735-39BA-54DE-73BB-E921EF4AE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DB8CCE17-080D-74A2-8C62-BEE35062A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09FAB11A-8AE4-4045-9519-F09C1684AB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66253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5B8565A-363B-1FEF-E4E2-0DD588C9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EAB70A95-DEE5-DA40-53A6-183E26DA9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6BBDA16D-9CBC-F408-B2A8-7F4190A54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C530C16A-6D89-B4DE-1567-146CA1FDD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660710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277DA68-3157-EAB8-815C-1E8FC679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70AD9ABB-8D8F-6E10-C49E-129D17DD4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AD641875-2F17-2454-0369-E10F6B3F4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E83AAD3C-39B6-9DC0-DBCB-7F1DBF78FB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388491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1CF98BE-FCA4-4585-0D49-EFBBF931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28B7FB89-11CF-DB8C-8B0B-CFDF07765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A703DACE-DB63-5CBA-9A18-359A8AC7A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2EEEC82D-F600-B6F1-B59C-BC4CAB6EE8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262972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6E1103C-B340-E7E7-F79C-166A9DF9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A1014873-0043-664B-25DF-C1333B7DE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CBDC3E7C-601F-D1B2-2713-81DB43390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2AED7489-3AE8-794C-5A31-05ED46FF61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984087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BDF1519-0F42-3ABA-3F91-38D4CDB3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E52DC10B-C1F8-B9A8-FFF2-975451CBC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454A232E-58C1-9F92-4B6C-A3A37EA9D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3C8B1B57-AB89-E5CE-BD12-03C308976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86908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C93F2D8-DC22-F0B1-C85F-092D2792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39382953-1D8E-CF3D-E89D-E367DB0A9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DD5FBCE2-9BF8-D194-9C54-CAB71F6AB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AB9F3413-0B5C-F730-6AB6-F3D9779B28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08337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D921AC2-D9E7-FAA9-E7D0-6C646E70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1760D533-1F09-5710-9383-DA9492C50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608FBA29-0383-5328-9066-9B6A0E458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A6410EBC-B85E-6DB3-A5F1-B784E624F2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96326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2ACE7D9-82AE-C8F7-9A3F-30E0678B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4C869A44-DE98-4E68-BC5F-117C8C21D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72C2DEFA-AC69-C182-40C6-809BF629B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37F29268-FD0C-907B-444C-219EBFDB47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174976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4289B64-2594-FFEB-81AB-5FEE4ED3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C01F8351-DD2E-794A-59A9-E5E3A89CD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1B15C5B1-D129-E3DD-27B8-635224FCD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878A3FDF-220B-0D24-4901-433904C54B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423228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AE0CB74-D607-2AFC-80A4-CEAD9290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>
            <a:extLst>
              <a:ext uri="{FF2B5EF4-FFF2-40B4-BE49-F238E27FC236}">
                <a16:creationId xmlns:a16="http://schemas.microsoft.com/office/drawing/2014/main" id="{33B465E0-DD75-6A6E-70BC-089738EE7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>
            <a:extLst>
              <a:ext uri="{FF2B5EF4-FFF2-40B4-BE49-F238E27FC236}">
                <a16:creationId xmlns:a16="http://schemas.microsoft.com/office/drawing/2014/main" id="{FFC5F4BD-0DE3-94D7-9C1D-31732B7BE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>
            <a:extLst>
              <a:ext uri="{FF2B5EF4-FFF2-40B4-BE49-F238E27FC236}">
                <a16:creationId xmlns:a16="http://schemas.microsoft.com/office/drawing/2014/main" id="{B86B70B4-EF04-19EB-4D24-D413D5651F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3426252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F70A785-156C-425F-A2D8-966122E547E5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17" name="Google Shape;17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7742EA7-CD33-43EC-8EA7-47D30631274E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22" name="Google Shape;22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484804C-E2C2-44BE-BCFD-8053EB60501D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33" name="Google Shape;33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693C889-72BB-4A3F-88FF-DB5D79B46C9F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39" name="Google Shape;39;p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8438443-5994-46C8-AEEF-2D59BC6E7C9E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46" name="Google Shape;46;p3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8E5C271-FA14-4B19-BFBF-3563F3BF711E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55" name="Google Shape;55;p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 panose="02020603050405020304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 panose="02020603050405020304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 panose="02020603050405020304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A449154-40C0-463B-9870-DE851E5650F2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62" name="Google Shape;62;p3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37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 panose="02020603050405020304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 panose="02020603050405020304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 panose="02020603050405020304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 panose="02020603050405020304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E899386-CBAA-4D39-AF2D-8EC1DE21406A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69" name="Google Shape;69;p3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body" idx="1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8094A4C-1916-4AF1-A1C2-EDC0C0EC293E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75" name="Google Shape;75;p3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body" idx="1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86948D6-0002-44A7-B245-A5E38AE83685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81" name="Google Shape;81;p3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6F5">
            <a:alpha val="54117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fld id="{B8A5363C-25EE-49EE-8F58-FC70F37812F9}" type="datetime3">
              <a:rPr lang="en-US" smtClean="0"/>
              <a:t>11 February 2026</a:t>
            </a:fld>
            <a:endParaRPr lang="en-US"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Data-Driven_State_of_Health_and_Functionality_Estimation_for_Electric_Vehicle_Batteries_Based_on_Partial_Charge_Health_Indicators.pdf" TargetMode="Externa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dt" idx="10"/>
          </p:nvPr>
        </p:nvSpPr>
        <p:spPr>
          <a:xfrm>
            <a:off x="0" y="6564325"/>
            <a:ext cx="19488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E1438992-91CF-42A5-9A63-D24A032BB5F6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5" name="Google Shape;95;p1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827584" y="2429123"/>
            <a:ext cx="72728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 panose="02020603050405020304"/>
              <a:buNone/>
            </a:pPr>
            <a:r>
              <a:rPr lang="en-US" altLang="en-GB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Battery Health Estimation for Electric Vehicles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5901864" y="5125684"/>
            <a:ext cx="4906297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Jeya </a:t>
            </a:r>
            <a:r>
              <a:rPr lang="en-US" sz="18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Prawin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Raj K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23BCS041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Raghul G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23BCS052</a:t>
            </a:r>
          </a:p>
        </p:txBody>
      </p:sp>
      <p:sp>
        <p:nvSpPr>
          <p:cNvPr id="2" name="Google Shape;97;p1"/>
          <p:cNvSpPr txBox="1"/>
          <p:nvPr/>
        </p:nvSpPr>
        <p:spPr>
          <a:xfrm>
            <a:off x="0" y="4918220"/>
            <a:ext cx="375241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BY,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Name of the Supervisor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1" name="Google Shape;151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2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53" name="Google Shape;153;p12"/>
          <p:cNvSpPr txBox="1">
            <a:spLocks noGrp="1"/>
          </p:cNvSpPr>
          <p:nvPr>
            <p:ph type="body" idx="1"/>
          </p:nvPr>
        </p:nvSpPr>
        <p:spPr>
          <a:xfrm>
            <a:off x="386857" y="1129060"/>
            <a:ext cx="8370286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457200" algn="just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transition toward sustainable transportation depends on accurate State of Health (SoH) monitoring of lithium-ion batteries estimation methods fail to provide accurate data during the frequent, partial charging cycles characteristic of real-world electric vehicle (EV) usage. To address this, a novel SoH estimation algorithm is proposed, which extracts unique "health indicators" such as specific voltage change rates from short, partial charging segments to deliver real-time, accurate battery diagnostics.</a:t>
            </a:r>
          </a:p>
          <a:p>
            <a:pPr marL="114300" lvl="0" indent="4572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alt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4" name="Google Shape;154;p12"/>
          <p:cNvSpPr txBox="1">
            <a:spLocks noGrp="1"/>
          </p:cNvSpPr>
          <p:nvPr>
            <p:ph type="dt" idx="10"/>
          </p:nvPr>
        </p:nvSpPr>
        <p:spPr>
          <a:xfrm>
            <a:off x="0" y="6550025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E6DFCBC0-FF8D-4DBE-9B7B-D46C9E3C5A7A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7" name="Google Shape;157;p1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3472764" y="609600"/>
            <a:ext cx="219847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8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13e7f44d304_0_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3e7f44d304_0_0"/>
          <p:cNvSpPr txBox="1"/>
          <p:nvPr/>
        </p:nvSpPr>
        <p:spPr>
          <a:xfrm>
            <a:off x="2273300" y="6550025"/>
            <a:ext cx="4597500" cy="307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6" name="Google Shape;106;g13e7f44d304_0_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13e7f44d304_0_0"/>
          <p:cNvSpPr/>
          <p:nvPr/>
        </p:nvSpPr>
        <p:spPr>
          <a:xfrm>
            <a:off x="8550275" y="6553200"/>
            <a:ext cx="593700" cy="306300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3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08" name="Google Shape;108;g13e7f44d304_0_0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81201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D4679909-0E7E-462F-91D5-8FC128A19CEB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09" name="Google Shape;109;g13e7f44d304_0_0"/>
          <p:cNvSpPr txBox="1"/>
          <p:nvPr/>
        </p:nvSpPr>
        <p:spPr>
          <a:xfrm>
            <a:off x="919163" y="0"/>
            <a:ext cx="7305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10" name="Google Shape;110;g13e7f44d304_0_0"/>
          <p:cNvSpPr/>
          <p:nvPr/>
        </p:nvSpPr>
        <p:spPr>
          <a:xfrm>
            <a:off x="8355013" y="20638"/>
            <a:ext cx="777900" cy="777900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1" name="Google Shape;111;g13e7f44d304_0_0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13e7f44d304_0_0"/>
          <p:cNvSpPr txBox="1"/>
          <p:nvPr/>
        </p:nvSpPr>
        <p:spPr>
          <a:xfrm>
            <a:off x="2949906" y="578461"/>
            <a:ext cx="324418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</a:t>
            </a:r>
            <a:endParaRPr sz="28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Content Placeholder 4"/>
          <p:cNvSpPr txBox="1">
            <a:spLocks noChangeArrowheads="1"/>
          </p:cNvSpPr>
          <p:nvPr/>
        </p:nvSpPr>
        <p:spPr>
          <a:xfrm>
            <a:off x="178149" y="899999"/>
            <a:ext cx="878762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14300" indent="0">
              <a:lnSpc>
                <a:spcPct val="150000"/>
              </a:lnSpc>
              <a:spcBef>
                <a:spcPts val="360"/>
              </a:spcBef>
              <a:buClr>
                <a:schemeClr val="dk1"/>
              </a:buClr>
              <a:buSzPts val="1800"/>
              <a:buFont typeface="Times New Roman" panose="02020603050405020304"/>
              <a:buNone/>
              <a:defRPr sz="3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indent="-342900">
              <a:spcBef>
                <a:spcPts val="360"/>
              </a:spcBef>
              <a:buClr>
                <a:schemeClr val="dk1"/>
              </a:buClr>
              <a:buSzPts val="1800"/>
              <a:buFont typeface="Times New Roman" panose="02020603050405020304"/>
              <a:buChar char="–"/>
              <a:defRPr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indent="-342900">
              <a:spcBef>
                <a:spcPts val="360"/>
              </a:spcBef>
              <a:buClr>
                <a:schemeClr val="dk1"/>
              </a:buClr>
              <a:buSzPts val="1800"/>
              <a:buFont typeface="Times New Roman" panose="02020603050405020304"/>
              <a:buChar char="•"/>
              <a:defRPr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indent="-342900">
              <a:spcBef>
                <a:spcPts val="360"/>
              </a:spcBef>
              <a:buClr>
                <a:schemeClr val="dk1"/>
              </a:buClr>
              <a:buSzPts val="1800"/>
              <a:buFont typeface="Times New Roman" panose="02020603050405020304"/>
              <a:buChar char="–"/>
              <a:defRPr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indent="-342900">
              <a:spcBef>
                <a:spcPts val="360"/>
              </a:spcBef>
              <a:buClr>
                <a:schemeClr val="dk1"/>
              </a:buClr>
              <a:buSzPts val="1800"/>
              <a:buFont typeface="Times New Roman" panose="02020603050405020304"/>
              <a:buChar char="»"/>
              <a:defRPr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indent="-3429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indent="457200" algn="just"/>
            <a:r>
              <a:rPr lang="en-US" altLang="en-GB" sz="2400" dirty="0"/>
              <a:t>The main problem is that current systems for checking battery health don't work well in real life. Most systems are designed to work only when a battery is charged from 0% to 100% all at once. But in the real world, electric vehicle (EV) drivers rarely do this. Instead, they do partial charges. </a:t>
            </a:r>
          </a:p>
          <a:p>
            <a:pPr indent="457200" algn="just"/>
            <a:r>
              <a:rPr lang="en-US" altLang="en-GB" sz="2400" dirty="0"/>
              <a:t>Right now, the industry says a battery is "dead" once it reaches 80% health. However, this rule ignores how different people drive. Many batteries are thrown away and replaced too early, which wastes money and is bad for the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4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23" name="Google Shape;123;p3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27124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25260AD9-E776-4CA9-ACBE-E4F114151A87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26" name="Google Shape;126;p3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3663911" y="608356"/>
            <a:ext cx="18161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 </a:t>
            </a:r>
            <a:endParaRPr sz="28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Content Placeholder 4"/>
          <p:cNvSpPr txBox="1">
            <a:spLocks noChangeArrowheads="1"/>
          </p:cNvSpPr>
          <p:nvPr/>
        </p:nvSpPr>
        <p:spPr>
          <a:xfrm>
            <a:off x="406400" y="1207206"/>
            <a:ext cx="8268043" cy="4114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cell-level State of Health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estimation algorithm by extracting meaningful Health Indicators (HIs) from real-world battery data obtained during non-linear partial charging events.</a:t>
            </a: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personalized State of Function (SoF) framework that determines battery end-of-life based on individual driving patterns and usage behavior, rather than applying a fixed threshold for all users.</a:t>
            </a: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5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/>
        </p:nvSpPr>
        <p:spPr>
          <a:xfrm>
            <a:off x="2913489" y="589326"/>
            <a:ext cx="33170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Expected Outcomes </a:t>
            </a:r>
            <a:endParaRPr sz="28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Content Placeholder 4"/>
          <p:cNvSpPr txBox="1">
            <a:spLocks noChangeArrowheads="1"/>
          </p:cNvSpPr>
          <p:nvPr/>
        </p:nvSpPr>
        <p:spPr>
          <a:xfrm>
            <a:off x="500062" y="1200934"/>
            <a:ext cx="8143875" cy="4114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estimation of battery SOH using partial charge data.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key health indicators such as capacity degradation and internal resistance growth.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personalized battery health scoring mechanism (SoF) for user specific end of life decision-making.</a:t>
            </a:r>
          </a:p>
          <a:p>
            <a:pPr marL="342900" indent="-342900" algn="just"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520700" algn="l"/>
              </a:tabLst>
              <a:defRPr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6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2800" b="1" i="0" u="none" strike="noStrike" cap="none" dirty="0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Content Placeholder 4"/>
          <p:cNvSpPr txBox="1">
            <a:spLocks noChangeArrowheads="1"/>
          </p:cNvSpPr>
          <p:nvPr/>
        </p:nvSpPr>
        <p:spPr>
          <a:xfrm>
            <a:off x="91281" y="109023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et al. (2024)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driven SOH estimation using partial charging curves.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voltage-based health indicators from partial charging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Gaussian Process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real-world EV partial charging behavior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full charge 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prediction accuracy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training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computational cost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Tang et al., IEEE Trans. Energy Conversion, 2024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7AA71676-3E21-6FAE-0ECE-2E398DDC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F9373E62-3A32-1F10-0D38-52FFC3B169F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F95118BD-40C5-B23E-EE5E-04628E1D8511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51B7D6E4-912F-D266-B527-08E99860480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1255D57A-B3B3-1535-48F0-FDE8EE4F0980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7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DBE0D04A-DD8B-DAE7-1EC0-CEAD9E2A042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3C7EDDF2-B7A2-C1B4-96B9-268E3461D6FF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86CFE715-2C66-1E44-94BC-0DCE92BE3214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669E58ED-1191-F5DE-630C-FF110527491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F7BE1F72-CE6A-C25C-E820-6CF59EAD1F0B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D400EFA-AD69-415D-E6CA-04CA55DB678B}"/>
              </a:ext>
            </a:extLst>
          </p:cNvPr>
          <p:cNvSpPr txBox="1">
            <a:spLocks noChangeArrowheads="1"/>
          </p:cNvSpPr>
          <p:nvPr/>
        </p:nvSpPr>
        <p:spPr>
          <a:xfrm>
            <a:off x="182562" y="1031147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Huang et al. (2024)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SOH estimation using partial Incremental Capacity curves and transfer learning.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Partial Incremental Capacity Analysis (ICA)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IC peak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SBiGRU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degradation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generalization via transfer learning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 due to deep learning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E3C720-83D6-C154-C152-87F3AE04B3E2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Huang et al., Batteries, 2024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8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14E9934-350D-4918-4E02-B9EF028E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85FB3BB0-14BC-04DA-36A3-3BE3AD3A71F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CBB64FA0-679E-AEDF-C9B0-78BB63EB60E4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1FE30C40-5FA4-82FD-D4D7-6188E58EBB1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96D6B212-44C7-B260-655D-AF116D36FE9A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8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BF35CBE7-0DE0-7315-D107-E313EA3C8E8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FAF8EC91-C429-5201-04A2-F8B9102E9BD4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5B38281D-A70D-3D99-3574-6CFD28AAFEFC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31564C13-9162-E175-3B7E-0F5658EC33D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A6520631-D895-DD67-B571-AA04911F7161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4E74A66-B9A4-C459-61D0-6147F6026B87}"/>
              </a:ext>
            </a:extLst>
          </p:cNvPr>
          <p:cNvSpPr txBox="1">
            <a:spLocks noChangeArrowheads="1"/>
          </p:cNvSpPr>
          <p:nvPr/>
        </p:nvSpPr>
        <p:spPr>
          <a:xfrm>
            <a:off x="91281" y="109023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Schmitz &amp; Kowal (2024)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deep learning-based online SOH estimation.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LSTM hybrid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partial constant current charging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SOH estimation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online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robustness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GPU for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model (low interpretability)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E4229F-5B8F-08C1-798E-3DB7CD431F12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Schmitz &amp; Kowal, Batteries, 2024</a:t>
            </a:r>
            <a:endParaRPr lang="en-IN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07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85C6B25-4CA8-0481-03D1-4F269F16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77B196AB-E4D9-BC0F-BE56-ADFD97AF3E3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F361D094-D1C5-5055-3F79-2A9CB016C52C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3ADBAA6E-4B77-14A7-AD05-2A174449673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1C6F1441-4B77-63F4-2086-462C83063EA5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9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0ABDB0ED-B793-B5E0-B87B-1C2486A0677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BBBE1F59-4106-8524-5950-72B73735FB57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B2417D88-EE52-3E80-1F40-AD56D6623A77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6B8E11CB-B7EC-B50B-DEDB-8B7B08576ACB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9EDA0B62-5FA4-AE0D-A143-7A4484E3C5A4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4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6937812-9AC1-6FB4-A8FE-704D3BD5670F}"/>
              </a:ext>
            </a:extLst>
          </p:cNvPr>
          <p:cNvSpPr txBox="1">
            <a:spLocks noChangeArrowheads="1"/>
          </p:cNvSpPr>
          <p:nvPr/>
        </p:nvSpPr>
        <p:spPr>
          <a:xfrm>
            <a:off x="182562" y="113010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 et al. (2025)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SOH estimation using advanced ML techniques.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LSTM and ensemble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voltage, current, temperature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long term prediction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extensive historical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focus on partial charging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833E3-3D1B-8176-4270-961D36DC48AE}"/>
              </a:ext>
            </a:extLst>
          </p:cNvPr>
          <p:cNvSpPr/>
          <p:nvPr/>
        </p:nvSpPr>
        <p:spPr>
          <a:xfrm>
            <a:off x="247078" y="5981997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Rout et al., Scientific Reports, 2025</a:t>
            </a:r>
            <a:endParaRPr lang="en-IN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54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663CA72E-AA46-8D05-ECE0-0C62FE07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E5645E48-5272-073F-7E5B-5D1E860B7E2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EAEA25BA-0813-4E98-C13F-FAF2D9908ACA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9C30B368-FFD8-BFD5-4436-3A2DDC05C17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ECF3E7BC-7CC7-FED9-E64B-4443E5562B6C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10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BB3C6836-8765-A8DF-945C-B35C78B8008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95B525F1-4365-A7A6-77E7-7805A0CF6469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8E7EAD9D-3E7B-2F88-6A78-28B601A679AE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AB0E5BA0-A73D-F8C6-F2EB-44FCC503AD5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E933709E-D7DF-58DC-DFBB-4F4377D1C976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BF41B96-E69D-F12E-E987-DB12B375EB24}"/>
              </a:ext>
            </a:extLst>
          </p:cNvPr>
          <p:cNvSpPr txBox="1">
            <a:spLocks noChangeArrowheads="1"/>
          </p:cNvSpPr>
          <p:nvPr/>
        </p:nvSpPr>
        <p:spPr>
          <a:xfrm>
            <a:off x="91281" y="109023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 et al. (2025)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CNN-based transfer learning framework for SOH estimation.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across battery types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adaptability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domain performance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fine-tuning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99ACFE-92C3-C530-62C2-98651D6AF89C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Cao et al., Applied Energy, 2025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1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B9038CE-A6B8-D57E-29FC-BBAF32B6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702FE417-15D0-8886-9C5A-DD4E9D80636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0C77FE94-5759-E4C3-97BE-FCB75D66023E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71269B28-D2B3-990A-544A-FF9ABEFF56F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072BE906-D469-C84C-FD89-A4ACBB3F2679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11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DEBC1A21-88BC-6727-BBBC-7DDDD1EAEFB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7B54A02E-D67C-704C-A79D-6D4A7B0DC541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D2CEA117-5023-5821-936B-F36739BF8217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559B6D9C-F829-2D32-12DD-5D3643CDD1D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D68DA23C-DD39-746D-AE7E-E8B4E9FB86EA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lang="en-US" sz="2800" b="1" i="0" u="none" strike="noStrike" cap="none" dirty="0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F5C136C-85BB-B47F-56C3-0D553D890849}"/>
              </a:ext>
            </a:extLst>
          </p:cNvPr>
          <p:cNvSpPr txBox="1">
            <a:spLocks noChangeArrowheads="1"/>
          </p:cNvSpPr>
          <p:nvPr/>
        </p:nvSpPr>
        <p:spPr>
          <a:xfrm>
            <a:off x="91281" y="109023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Liu et al. (2025)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attention-based GRU for partial charging curve reconstruction.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partial curves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Attention-GRU model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temporal dependency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overhead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complexity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E6A34-8428-C2FE-7431-0244AC8CDC01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Liu et al., J. Energy Storage, 2025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33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D79A41D-AC2E-4059-85D5-DE1A2A42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CB461E57-6300-608C-C1F8-0919D43EA06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9D6A870A-EB94-DCE2-FDF2-4AEFECE1885B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70DEB66B-C788-AEE6-5448-160BCCAA436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8113FFAB-37A6-1ED7-85FD-99A2D2AAD600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12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CBB6B535-F944-6C6B-E802-A66763773FD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92B3EEDE-01E3-6F31-2706-A0F223F4C30B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19B33451-C5D7-76F7-971B-AA1C0642AB91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48FC37AA-EBA4-F8DA-8720-3BEE2B8CA3DD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B9642361-0010-3CC7-6C08-B8E72F992A29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7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2A37909-1305-0A24-F336-D76CAE4176B5}"/>
              </a:ext>
            </a:extLst>
          </p:cNvPr>
          <p:cNvSpPr txBox="1">
            <a:spLocks noChangeArrowheads="1"/>
          </p:cNvSpPr>
          <p:nvPr/>
        </p:nvSpPr>
        <p:spPr>
          <a:xfrm>
            <a:off x="91281" y="109023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Zhang &amp; Li (2024)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a review of SOH estimation methods in EV batteries.</a:t>
            </a:r>
            <a:r>
              <a:rPr lang="en-US" sz="3200" dirty="0"/>
              <a:t>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model-based and data-driven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challenges in real-world deployment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practical limitations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model proposed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F8F28D-DBDC-0FAE-B42E-F6136B28ABC9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Zhang &amp; Li, Energies, 2024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948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83CAF26-40EB-6EA3-3B53-2FE5D333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03CE1069-0D8B-8CBB-644D-752DC1625C2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E430A28E-56E1-54EA-58DD-F376F79AFA15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08588668-4CB3-3F2A-537C-4279C37BFB2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17A072A7-5FFA-1B57-450F-95CE47B76C3C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13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EFFB1A45-9C7A-0D22-E5D3-6C15F776E2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A5C52B4C-779A-A031-4469-CB75C4BB3300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0E821B76-AEF5-3D19-D390-4C5D8FF698ED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6D9DB168-88A4-22FB-4D71-6308AED562AA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3B3C1E25-BF5E-4DEF-9DCB-7592914DBE58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8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598A65A-A4AD-3F88-6723-61B6BD72E1D3}"/>
              </a:ext>
            </a:extLst>
          </p:cNvPr>
          <p:cNvSpPr txBox="1">
            <a:spLocks noChangeArrowheads="1"/>
          </p:cNvSpPr>
          <p:nvPr/>
        </p:nvSpPr>
        <p:spPr>
          <a:xfrm>
            <a:off x="247078" y="1031147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Mei et al. (2025)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ML-based SOH estimation with health indicators.</a:t>
            </a:r>
            <a:r>
              <a:rPr lang="en-US" sz="3200" dirty="0"/>
              <a:t> 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from voltage curves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regression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health indicator definition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robust for noisy data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AF6005-727B-E9C4-46B1-9B383722BC39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Mei et al., Materials, 2025</a:t>
            </a:r>
            <a:endParaRPr lang="da-DK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45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274560C1-F3D7-4E58-196C-C933E24D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19CA5D7A-9BAA-8AC3-3B09-D683657893E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87062F09-9CCF-A824-973E-B2A8D4F9ED5A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7368222D-FA67-704B-96CF-D0396D84E2E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4DC3DC25-06AB-F94C-DE9F-A599415AF258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14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924BDC42-25A7-71AF-73E2-DEC9D59654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2FA0E117-58D8-D950-C65D-E63B08B811F3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1842CC55-73B1-1096-CBF6-B1E812DC0D2E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B1237FE7-CED6-A007-485C-04F8FE39F201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D3CE019A-D6C2-A97F-4048-C1DACC2AEFE9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C8FC94F-556F-D70A-4E19-370BBCD5BBC8}"/>
              </a:ext>
            </a:extLst>
          </p:cNvPr>
          <p:cNvSpPr txBox="1">
            <a:spLocks noChangeArrowheads="1"/>
          </p:cNvSpPr>
          <p:nvPr/>
        </p:nvSpPr>
        <p:spPr>
          <a:xfrm>
            <a:off x="182562" y="1031147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 et al. (2023)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 hybrid model combining model-based and data-driven methods.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circuit model + 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parameter estimation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interpretability and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BMS integration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parameter identification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complex calibration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263E6-B905-26DD-B366-56814CBF900A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0000CC"/>
                </a:solidFill>
              </a:rPr>
              <a:t>Reference: Wang et al., Energy, 2023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8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1BAFE90-4F5E-65D1-7CC1-5625C587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96A946E4-73C2-4416-E54D-F8862E19BFE1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5D344699-CDCB-2FF0-4E3C-7997B151D104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485F8557-6F1C-FCE9-A903-B75CBFB20F3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78EF57F8-D293-3B79-9286-848451F7C803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15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E29D0B0D-ACAB-59D5-67B2-DE9D440BDA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861812EC-ADE6-FFD2-5BC1-7852FB1125BA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5313BE45-C54E-A5B2-293C-4779D01D14B5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5B086310-D58C-57D2-4E4B-B03C5945AF1B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>
            <a:extLst>
              <a:ext uri="{FF2B5EF4-FFF2-40B4-BE49-F238E27FC236}">
                <a16:creationId xmlns:a16="http://schemas.microsoft.com/office/drawing/2014/main" id="{9E05ADC1-989C-241B-4F7D-C85F67DF21CF}"/>
              </a:ext>
            </a:extLst>
          </p:cNvPr>
          <p:cNvSpPr txBox="1"/>
          <p:nvPr/>
        </p:nvSpPr>
        <p:spPr>
          <a:xfrm>
            <a:off x="2676698" y="507967"/>
            <a:ext cx="355463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-</a:t>
            </a: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B1465AE-D51E-E879-75EC-C39C404EA33A}"/>
              </a:ext>
            </a:extLst>
          </p:cNvPr>
          <p:cNvSpPr txBox="1">
            <a:spLocks noChangeArrowheads="1"/>
          </p:cNvSpPr>
          <p:nvPr/>
        </p:nvSpPr>
        <p:spPr>
          <a:xfrm>
            <a:off x="247078" y="1227792"/>
            <a:ext cx="8961438" cy="72868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 et al. (2022)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support vector regression model for lithium-ion SOH estimation.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statistical voltage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Support Vector Regression (SVR)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performance with small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computational cost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Demerits: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accurate for long-term prediction</a:t>
            </a:r>
          </a:p>
          <a:p>
            <a:b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548765-5B43-9193-9F27-DF80D651D36A}"/>
              </a:ext>
            </a:extLst>
          </p:cNvPr>
          <p:cNvSpPr/>
          <p:nvPr/>
        </p:nvSpPr>
        <p:spPr>
          <a:xfrm>
            <a:off x="247078" y="6045728"/>
            <a:ext cx="86498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Reference: Chen et al., Journal of Power Sources, 2022</a:t>
            </a:r>
            <a:endParaRPr lang="fr-FR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198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16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733103"/>
              </p:ext>
            </p:extLst>
          </p:nvPr>
        </p:nvGraphicFramePr>
        <p:xfrm>
          <a:off x="395889" y="1991548"/>
          <a:ext cx="8352223" cy="391190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3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37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 et al. (2024)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Process Regression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training dataset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Huang et al. (2024) 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SBiGRU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Transfer Learning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noise, high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Schmitz &amp; Kowal (2024)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LSTM hybrid model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interpretability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 et al. (2025)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and ensemble ML models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training dataset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4"/>
          <p:cNvSpPr txBox="1">
            <a:spLocks noChangeArrowheads="1"/>
          </p:cNvSpPr>
          <p:nvPr/>
        </p:nvSpPr>
        <p:spPr>
          <a:xfrm>
            <a:off x="195943" y="1476193"/>
            <a:ext cx="8733745" cy="476109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 of the literatures:</a:t>
            </a: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2;p2"/>
          <p:cNvSpPr txBox="1"/>
          <p:nvPr/>
        </p:nvSpPr>
        <p:spPr>
          <a:xfrm>
            <a:off x="2338720" y="619177"/>
            <a:ext cx="303477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 </a:t>
            </a:r>
            <a:endParaRPr lang="en-US" sz="2800" b="1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91C255-2D91-F04D-BDA2-B6867AA4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071A98EE-5E1E-2C8D-84D5-1357151FD19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D74E2AD6-CBF5-1C0B-2B46-7A35D406DCF8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A6848DA9-89A2-88EC-486D-E1A47779975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677F5E2A-2052-1314-D6DC-0ED784286926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17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87AC7521-A22F-6CCC-5CEB-4E246C4AEA4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F02A8A8D-D4F9-FEEB-5C8B-C02D2EB4764F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EFFB5030-A4D9-3A56-D2D2-FC4605A64369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C17357A0-6C0D-88EF-3218-24244546B13F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9EE6E7-0A53-243C-2835-F04202749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61374"/>
              </p:ext>
            </p:extLst>
          </p:nvPr>
        </p:nvGraphicFramePr>
        <p:xfrm>
          <a:off x="395889" y="1991548"/>
          <a:ext cx="8352223" cy="369188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53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4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37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 et al. (2025)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fine-tuning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Liu et al. (2025) 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Attention-GRU model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&amp; Li (2024)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model-based and data-driven methods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new model</a:t>
                      </a: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 et al. (2025)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regression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robust for noisy data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D68DAAA-6063-920A-0357-B80D50B4EF14}"/>
              </a:ext>
            </a:extLst>
          </p:cNvPr>
          <p:cNvSpPr txBox="1">
            <a:spLocks noChangeArrowheads="1"/>
          </p:cNvSpPr>
          <p:nvPr/>
        </p:nvSpPr>
        <p:spPr>
          <a:xfrm>
            <a:off x="195943" y="1476193"/>
            <a:ext cx="8733745" cy="476109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 of the literatures:</a:t>
            </a: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2;p2">
            <a:extLst>
              <a:ext uri="{FF2B5EF4-FFF2-40B4-BE49-F238E27FC236}">
                <a16:creationId xmlns:a16="http://schemas.microsoft.com/office/drawing/2014/main" id="{E33A6596-756E-4DA2-CCE7-734333528361}"/>
              </a:ext>
            </a:extLst>
          </p:cNvPr>
          <p:cNvSpPr txBox="1"/>
          <p:nvPr/>
        </p:nvSpPr>
        <p:spPr>
          <a:xfrm>
            <a:off x="2338720" y="619177"/>
            <a:ext cx="303477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</a:t>
            </a:r>
            <a:endParaRPr lang="en-US" sz="2800" b="1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3318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947AA3A-FC6B-3874-C67B-81A05987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>
            <a:extLst>
              <a:ext uri="{FF2B5EF4-FFF2-40B4-BE49-F238E27FC236}">
                <a16:creationId xmlns:a16="http://schemas.microsoft.com/office/drawing/2014/main" id="{A258C23D-8492-7DCA-24D5-19FC7FB6957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>
            <a:extLst>
              <a:ext uri="{FF2B5EF4-FFF2-40B4-BE49-F238E27FC236}">
                <a16:creationId xmlns:a16="http://schemas.microsoft.com/office/drawing/2014/main" id="{AB71D4C4-C031-AEC7-7343-B85883BDF15D}"/>
              </a:ext>
            </a:extLst>
          </p:cNvPr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>
            <a:extLst>
              <a:ext uri="{FF2B5EF4-FFF2-40B4-BE49-F238E27FC236}">
                <a16:creationId xmlns:a16="http://schemas.microsoft.com/office/drawing/2014/main" id="{DD05DF3B-8B9D-098C-D0E1-729CA51B85C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>
            <a:extLst>
              <a:ext uri="{FF2B5EF4-FFF2-40B4-BE49-F238E27FC236}">
                <a16:creationId xmlns:a16="http://schemas.microsoft.com/office/drawing/2014/main" id="{076917FF-F7D9-BBFD-A442-0B3D85523B4E}"/>
              </a:ext>
            </a:extLst>
          </p:cNvPr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18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>
            <a:extLst>
              <a:ext uri="{FF2B5EF4-FFF2-40B4-BE49-F238E27FC236}">
                <a16:creationId xmlns:a16="http://schemas.microsoft.com/office/drawing/2014/main" id="{FEC04108-3092-8321-B002-51E0EC7B006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>
            <a:extLst>
              <a:ext uri="{FF2B5EF4-FFF2-40B4-BE49-F238E27FC236}">
                <a16:creationId xmlns:a16="http://schemas.microsoft.com/office/drawing/2014/main" id="{B548FC82-17AF-621F-8145-CF90C0F57FBF}"/>
              </a:ext>
            </a:extLst>
          </p:cNvPr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>
            <a:extLst>
              <a:ext uri="{FF2B5EF4-FFF2-40B4-BE49-F238E27FC236}">
                <a16:creationId xmlns:a16="http://schemas.microsoft.com/office/drawing/2014/main" id="{791F570B-0183-C59E-9EAF-42CADCE69C8C}"/>
              </a:ext>
            </a:extLst>
          </p:cNvPr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>
            <a:extLst>
              <a:ext uri="{FF2B5EF4-FFF2-40B4-BE49-F238E27FC236}">
                <a16:creationId xmlns:a16="http://schemas.microsoft.com/office/drawing/2014/main" id="{2235FF4B-5ED4-8FAF-CD55-878A9151EDE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26B4AB-57D3-7898-B267-0C29B4030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798795"/>
              </p:ext>
            </p:extLst>
          </p:nvPr>
        </p:nvGraphicFramePr>
        <p:xfrm>
          <a:off x="395889" y="1991548"/>
          <a:ext cx="8582725" cy="230313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62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8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37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 (2023) 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Equivalent circuit model + ML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parameter identification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37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 (2022) </a:t>
                      </a: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Regression 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7" marR="91447" marT="45716" marB="45716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6D0B21A-AB4E-4360-0AD2-50EB90780AE4}"/>
              </a:ext>
            </a:extLst>
          </p:cNvPr>
          <p:cNvSpPr txBox="1">
            <a:spLocks noChangeArrowheads="1"/>
          </p:cNvSpPr>
          <p:nvPr/>
        </p:nvSpPr>
        <p:spPr>
          <a:xfrm>
            <a:off x="195943" y="1476193"/>
            <a:ext cx="8733745" cy="476109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Consolidation of the literatures:</a:t>
            </a: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42;p2">
            <a:extLst>
              <a:ext uri="{FF2B5EF4-FFF2-40B4-BE49-F238E27FC236}">
                <a16:creationId xmlns:a16="http://schemas.microsoft.com/office/drawing/2014/main" id="{C34E9C44-B62E-AFCF-B780-17CF046DF4D7}"/>
              </a:ext>
            </a:extLst>
          </p:cNvPr>
          <p:cNvSpPr txBox="1"/>
          <p:nvPr/>
        </p:nvSpPr>
        <p:spPr>
          <a:xfrm>
            <a:off x="2338720" y="619177"/>
            <a:ext cx="3034775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Survey </a:t>
            </a:r>
            <a:endParaRPr lang="en-US" sz="2800" b="1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36490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19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2;p2"/>
          <p:cNvSpPr txBox="1"/>
          <p:nvPr/>
        </p:nvSpPr>
        <p:spPr>
          <a:xfrm>
            <a:off x="3327925" y="599406"/>
            <a:ext cx="248815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 Details</a:t>
            </a:r>
            <a:endParaRPr lang="en-US" sz="2800" b="1" i="0" u="none" strike="noStrike" cap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EAC30A5-94CF-3836-5DD2-1A7284E1F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42" y="1428819"/>
            <a:ext cx="88695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NASA Lithium-Ion Battery Aging Dataset, obtained from Kaggle.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rovided by the NASA Ames Prognostics Center of Excellence.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0FF21-A4C4-B33B-B06A-B7CC06B3E27A}"/>
              </a:ext>
            </a:extLst>
          </p:cNvPr>
          <p:cNvSpPr txBox="1"/>
          <p:nvPr/>
        </p:nvSpPr>
        <p:spPr>
          <a:xfrm>
            <a:off x="137242" y="3090446"/>
            <a:ext cx="508848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7768FBD-359E-EFAF-B223-95DA2987D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52" y="3618503"/>
            <a:ext cx="73388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Capacity (Ah) → Used to compute State of Health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 (Electrolyte Resistance)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Cycle number / Test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Ambient 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Rct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(Charge Transfer Resistance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20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/>
        </p:nvSpPr>
        <p:spPr>
          <a:xfrm>
            <a:off x="2704119" y="609600"/>
            <a:ext cx="37357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Working Environment</a:t>
            </a:r>
          </a:p>
        </p:txBody>
      </p:sp>
      <p:sp>
        <p:nvSpPr>
          <p:cNvPr id="3" name="Content Placeholder 4"/>
          <p:cNvSpPr txBox="1">
            <a:spLocks noChangeArrowheads="1"/>
          </p:cNvSpPr>
          <p:nvPr/>
        </p:nvSpPr>
        <p:spPr>
          <a:xfrm>
            <a:off x="195943" y="1476193"/>
            <a:ext cx="8733745" cy="476109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C2978-7B8F-FE4F-2A0F-103E5A5DFF28}"/>
              </a:ext>
            </a:extLst>
          </p:cNvPr>
          <p:cNvSpPr txBox="1"/>
          <p:nvPr/>
        </p:nvSpPr>
        <p:spPr>
          <a:xfrm>
            <a:off x="639097" y="1828800"/>
            <a:ext cx="78363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and Environment : Python , 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: Kaggle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Pandas , Matplotlib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: Scikit learn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21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/>
        </p:nvSpPr>
        <p:spPr>
          <a:xfrm>
            <a:off x="3086203" y="584565"/>
            <a:ext cx="297159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  <p:sp>
        <p:nvSpPr>
          <p:cNvPr id="3" name="Content Placeholder 4"/>
          <p:cNvSpPr txBox="1">
            <a:spLocks noChangeArrowheads="1"/>
          </p:cNvSpPr>
          <p:nvPr/>
        </p:nvSpPr>
        <p:spPr>
          <a:xfrm>
            <a:off x="359726" y="1292135"/>
            <a:ext cx="8733745" cy="476109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just">
              <a:buFont typeface="Times New Roman" panose="02020603050405020304" pitchFamily="18" charset="0"/>
              <a:buAutoNum type="arabicPeriod"/>
            </a:pPr>
            <a:r>
              <a:rPr lang="en-US" alt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 https://ieeexplore.ieee.org/document/10766661</a:t>
            </a:r>
            <a:endParaRPr lang="en-US" alt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J. Tang et al.,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“Data-Driven State of Health Estimation Method of Lithium-Ion Batteries Using Partial Charging Curves,”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Energy Conversion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S. Huang et al.,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“State of Health Estimation for Lithium-Ion Batteries Using Partial Incremental Capacity Curve and Transfer Learning,”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32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 Ames Prognostics Center of Excellence,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“Lithium-Ion Battery Aging Dataset,” NASA Research Dataset, widely used for battery prognostics research</a:t>
            </a:r>
            <a:r>
              <a:rPr lang="en-US" sz="32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Times New Roman" panose="02020603050405020304" pitchFamily="18" charset="0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tabLst>
                <a:tab pos="520700" algn="l"/>
              </a:tabLst>
            </a:pP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  <a:tabLst>
                <a:tab pos="520700" algn="l"/>
              </a:tabLst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6553200"/>
            <a:ext cx="9144000" cy="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273300" y="6550025"/>
            <a:ext cx="4597400" cy="307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dk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Department of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8550275" y="6553200"/>
            <a:ext cx="593725" cy="306388"/>
          </a:xfrm>
          <a:prstGeom prst="roundRect">
            <a:avLst>
              <a:gd name="adj" fmla="val 16667"/>
            </a:avLst>
          </a:prstGeom>
          <a:solidFill>
            <a:srgbClr val="FF00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22</a:t>
            </a:fld>
            <a:endParaRPr sz="1600" b="1" i="0" u="none" strike="noStrike" cap="none"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38" name="Google Shape;138;p2"/>
          <p:cNvSpPr txBox="1">
            <a:spLocks noGrp="1"/>
          </p:cNvSpPr>
          <p:nvPr>
            <p:ph type="dt" idx="10"/>
          </p:nvPr>
        </p:nvSpPr>
        <p:spPr>
          <a:xfrm>
            <a:off x="-1" y="6564313"/>
            <a:ext cx="1937658" cy="4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400"/>
              <a:buFont typeface="Arial Rounded"/>
              <a:buNone/>
            </a:pPr>
            <a:fld id="{1EBC5211-1370-4AE5-AEE8-0609C9313730}" type="datetime3">
              <a:rPr lang="en-US" sz="1400" b="1" i="0" u="none" strike="noStrike" cap="none" smtClean="0">
                <a:solidFill>
                  <a:srgbClr val="FF0066"/>
                </a:solidFill>
                <a:latin typeface="Arial Rounded"/>
                <a:sym typeface="Arial Rounded"/>
              </a:rPr>
              <a:t>11 February 2026</a:t>
            </a:fld>
            <a:endParaRPr sz="1400" b="1" i="0" u="none" strike="noStrike" cap="none" dirty="0">
              <a:solidFill>
                <a:srgbClr val="FF006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19163" y="0"/>
            <a:ext cx="7305675" cy="47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Mepco Schlenk Engineering College </a:t>
            </a:r>
            <a:r>
              <a:rPr lang="en-US" sz="1800" b="1" i="0" u="none" strike="noStrike" cap="none">
                <a:solidFill>
                  <a:srgbClr val="47FFD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(Autonomous)</a:t>
            </a:r>
            <a:endParaRPr sz="1800" b="1" i="1" u="none" strike="noStrike" cap="none">
              <a:solidFill>
                <a:srgbClr val="47FFD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355013" y="20638"/>
            <a:ext cx="777875" cy="777875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BABA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1" name="Google Shape;141;p2" descr="A picture containing text, sign, watch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382000" y="47625"/>
            <a:ext cx="731838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"/>
          <p:cNvSpPr txBox="1"/>
          <p:nvPr/>
        </p:nvSpPr>
        <p:spPr>
          <a:xfrm>
            <a:off x="1070429" y="2844265"/>
            <a:ext cx="700314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Presentation1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1692</Words>
  <Application>Microsoft Office PowerPoint</Application>
  <PresentationFormat>On-screen Show (4:3)</PresentationFormat>
  <Paragraphs>351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Rounded</vt:lpstr>
      <vt:lpstr>Calibri</vt:lpstr>
      <vt:lpstr>Comic Sans MS</vt:lpstr>
      <vt:lpstr>Times New Roman</vt:lpstr>
      <vt:lpstr>Presentation1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Harihara sudhan Ravi</dc:creator>
  <cp:lastModifiedBy>Raghul G</cp:lastModifiedBy>
  <cp:revision>101</cp:revision>
  <dcterms:created xsi:type="dcterms:W3CDTF">2022-07-10T04:10:00Z</dcterms:created>
  <dcterms:modified xsi:type="dcterms:W3CDTF">2026-02-11T08:36:18Z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F49F3A143CD844D68ED742B2019E8D9F_12</vt:lpwstr>
  </property>
  <property fmtid="{D5CDD505-2E9C-101B-9397-08002B2CF9AE}" pid="3" name="KSOProductBuildVer">
    <vt:lpwstr>2057-12.2.0.22556</vt:lpwstr>
  </property>
</Properties>
</file>